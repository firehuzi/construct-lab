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3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828800"/>
          </a:xfrm>
          <a:prstGeom prst="rect">
            <a:avLst/>
          </a:prstGeom>
          <a:solidFill>
            <a:srgbClr val="1C25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828800"/>
            <a:ext cx="9144000" cy="13716"/>
          </a:xfrm>
          <a:prstGeom prst="rect">
            <a:avLst/>
          </a:prstGeom>
          <a:solidFill>
            <a:srgbClr val="E8B44C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2860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dirty="0">
                <a:solidFill>
                  <a:srgbClr val="E8B4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ConStruct Lab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0D4E0"/>
                </a:solidFill>
              </a:rPr>
              <a:t>结构驱动的知识与意义建构系统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5A0BB"/>
                </a:solidFill>
              </a:rPr>
              <a:t>"Diagnose structures, not predict futures."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103120"/>
            <a:ext cx="1481328" cy="292608"/>
          </a:xfrm>
          <a:prstGeom prst="roundRect">
            <a:avLst>
              <a:gd name="adj" fmla="val 15625"/>
            </a:avLst>
          </a:prstGeom>
          <a:solidFill>
            <a:srgbClr val="E8B44C">
              <a:alpha val="2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130552"/>
            <a:ext cx="1389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8B44C"/>
                </a:solidFill>
              </a:rPr>
              <a:t>三层正交架构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304288" y="2103120"/>
            <a:ext cx="1682496" cy="292608"/>
          </a:xfrm>
          <a:prstGeom prst="roundRect">
            <a:avLst>
              <a:gd name="adj" fmla="val 15625"/>
            </a:avLst>
          </a:prstGeom>
          <a:solidFill>
            <a:srgbClr val="9C27B0">
              <a:alpha val="25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2350008" y="2130552"/>
            <a:ext cx="1591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C27B0"/>
                </a:solidFill>
              </a:rPr>
              <a:t>11层诊断框架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169664" y="2103120"/>
            <a:ext cx="1481328" cy="292608"/>
          </a:xfrm>
          <a:prstGeom prst="roundRect">
            <a:avLst>
              <a:gd name="adj" fmla="val 15625"/>
            </a:avLst>
          </a:prstGeom>
          <a:solidFill>
            <a:srgbClr val="42A5F5">
              <a:alpha val="25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4215384" y="2130552"/>
            <a:ext cx="1389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2A5F5"/>
                </a:solidFill>
              </a:rPr>
              <a:t>九种内容形态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833872" y="2103120"/>
            <a:ext cx="1481328" cy="292608"/>
          </a:xfrm>
          <a:prstGeom prst="roundRect">
            <a:avLst>
              <a:gd name="adj" fmla="val 15625"/>
            </a:avLst>
          </a:prstGeom>
          <a:solidFill>
            <a:srgbClr val="4CAF50">
              <a:alpha val="25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5879592" y="2130552"/>
            <a:ext cx="1389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CAF50"/>
                </a:solidFill>
              </a:rPr>
              <a:t>反洗脑四标准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40080" y="2651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D4E0"/>
                </a:solidFill>
              </a:rPr>
              <a:t>不做预测，只做结构性诊断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0" y="2194560"/>
            <a:ext cx="1097280" cy="640080"/>
          </a:xfrm>
          <a:prstGeom prst="rect">
            <a:avLst/>
          </a:prstGeom>
          <a:solidFill>
            <a:srgbClr val="1C2540"/>
          </a:solidFill>
          <a:ln/>
        </p:spPr>
      </p:sp>
      <p:sp>
        <p:nvSpPr>
          <p:cNvPr id="17" name="Text 15"/>
          <p:cNvSpPr/>
          <p:nvPr/>
        </p:nvSpPr>
        <p:spPr>
          <a:xfrm>
            <a:off x="5596128" y="2212848"/>
            <a:ext cx="8778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8B4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596128" y="2542032"/>
            <a:ext cx="8778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5A0BB"/>
                </a:solidFill>
              </a:rPr>
              <a:t>主体覆盖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675120" y="2194560"/>
            <a:ext cx="1097280" cy="640080"/>
          </a:xfrm>
          <a:prstGeom prst="rect">
            <a:avLst/>
          </a:prstGeom>
          <a:solidFill>
            <a:srgbClr val="1C2540"/>
          </a:solidFill>
          <a:ln/>
        </p:spPr>
      </p:sp>
      <p:sp>
        <p:nvSpPr>
          <p:cNvPr id="20" name="Text 18"/>
          <p:cNvSpPr/>
          <p:nvPr/>
        </p:nvSpPr>
        <p:spPr>
          <a:xfrm>
            <a:off x="6784848" y="2212848"/>
            <a:ext cx="8778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42A5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42万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784848" y="2542032"/>
            <a:ext cx="8778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5A0BB"/>
                </a:solidFill>
              </a:rPr>
              <a:t>事件入库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7863840" y="2194560"/>
            <a:ext cx="1097280" cy="640080"/>
          </a:xfrm>
          <a:prstGeom prst="rect">
            <a:avLst/>
          </a:prstGeom>
          <a:solidFill>
            <a:srgbClr val="1C2540"/>
          </a:solidFill>
          <a:ln/>
        </p:spPr>
      </p:sp>
      <p:sp>
        <p:nvSpPr>
          <p:cNvPr id="23" name="Text 21"/>
          <p:cNvSpPr/>
          <p:nvPr/>
        </p:nvSpPr>
        <p:spPr>
          <a:xfrm>
            <a:off x="7973568" y="2212848"/>
            <a:ext cx="8778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4CAF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7973568" y="2542032"/>
            <a:ext cx="8778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5A0BB"/>
                </a:solidFill>
              </a:rPr>
              <a:t>节点自动环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40080" y="45720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B44C"/>
                </a:solidFill>
              </a:rPr>
              <a:t>刃研社 / SCALPEL LAB</a:t>
            </a:r>
            <a:pPr indent="0" marL="0">
              <a:buNone/>
            </a:pPr>
            <a:r>
              <a:rPr lang="en-US" sz="900" dirty="0">
                <a:solidFill>
                  <a:srgbClr val="95A0BB"/>
                </a:solidFill>
              </a:rPr>
              <a:t>    |    </a:t>
            </a:r>
            <a:pPr indent="0" marL="0">
              <a:buNone/>
            </a:pPr>
            <a:r>
              <a:rPr lang="en-US" sz="900" dirty="0">
                <a:solidFill>
                  <a:srgbClr val="D0D4E0"/>
                </a:solidFill>
              </a:rPr>
              <a:t>公众号：地缘推演台</a:t>
            </a:r>
            <a:pPr indent="0" marL="0">
              <a:buNone/>
            </a:pPr>
            <a:r>
              <a:rPr lang="en-US" sz="900" dirty="0">
                <a:solidFill>
                  <a:srgbClr val="95A0BB"/>
                </a:solidFill>
              </a:rPr>
              <a:t>    |    </a:t>
            </a:r>
            <a:pPr indent="0" marL="0">
              <a:buNone/>
            </a:pPr>
            <a:r>
              <a:rPr lang="en-US" sz="900" dirty="0">
                <a:solidFill>
                  <a:srgbClr val="D0D4E0"/>
                </a:solidFill>
              </a:rPr>
              <a:t>construct-lab.site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3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8B4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项目定位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658368"/>
            <a:ext cx="822960" cy="27432"/>
          </a:xfrm>
          <a:prstGeom prst="rect">
            <a:avLst/>
          </a:prstGeom>
          <a:solidFill>
            <a:srgbClr val="E8B44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3291840" cy="1463040"/>
          </a:xfrm>
          <a:prstGeom prst="rect">
            <a:avLst/>
          </a:prstGeom>
          <a:solidFill>
            <a:srgbClr val="1C2540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3291840" cy="36576"/>
          </a:xfrm>
          <a:prstGeom prst="rect">
            <a:avLst/>
          </a:prstGeom>
          <a:solidFill>
            <a:srgbClr val="E8B44C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344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B4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150876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D4E0"/>
                </a:solidFill>
              </a:rPr>
              <a:t>结构性分析引擎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7373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5A0BB"/>
                </a:solidFill>
              </a:rPr>
              <a:t>不是智库 · 不是情报平台 · 不是AI写作助手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5A0BB"/>
                </a:solidFill>
              </a:rPr>
              <a:t>开放的知识生产系统，输入全球冲突数据 → 输出结构性判断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931920" y="1097280"/>
            <a:ext cx="3291840" cy="1463040"/>
          </a:xfrm>
          <a:prstGeom prst="rect">
            <a:avLst/>
          </a:prstGeom>
          <a:solidFill>
            <a:srgbClr val="1C2540"/>
          </a:solidFill>
          <a:ln/>
        </p:spPr>
      </p:sp>
      <p:sp>
        <p:nvSpPr>
          <p:cNvPr id="10" name="Shape 8"/>
          <p:cNvSpPr/>
          <p:nvPr/>
        </p:nvSpPr>
        <p:spPr>
          <a:xfrm>
            <a:off x="3931920" y="1097280"/>
            <a:ext cx="3291840" cy="36576"/>
          </a:xfrm>
          <a:prstGeom prst="rect">
            <a:avLst/>
          </a:prstGeom>
          <a:solidFill>
            <a:srgbClr val="42A5F5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0" y="12344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2A5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114800" y="150876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D4E0"/>
                </a:solidFill>
              </a:rPr>
              <a:t>反洗脑·可验证·开放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0" y="17373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5A0BB"/>
                </a:solidFill>
              </a:rPr>
              <a:t>地缘政治分析被叙事锁定，没有一个工具能回答：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5A0BB"/>
                </a:solidFill>
              </a:rPr>
              <a:t>"这个判断从哪里来的？能不能推翻它？"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743200"/>
            <a:ext cx="3291840" cy="1463040"/>
          </a:xfrm>
          <a:prstGeom prst="rect">
            <a:avLst/>
          </a:prstGeom>
          <a:solidFill>
            <a:srgbClr val="1C2540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2743200"/>
            <a:ext cx="3291840" cy="36576"/>
          </a:xfrm>
          <a:prstGeom prst="rect">
            <a:avLst/>
          </a:prstGeom>
          <a:solidFill>
            <a:srgbClr val="9C27B0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8803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C27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0080" y="315468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D4E0"/>
                </a:solidFill>
              </a:rPr>
              <a:t>三层时间尺度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338328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5A0BB"/>
                </a:solidFill>
              </a:rPr>
              <a:t>COW 200年骨架 + UCDP 40年肌肉 + GDELT 每日脉冲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5A0BB"/>
                </a:solidFill>
              </a:rPr>
              <a:t>三层正交架构 × 11层诊断框架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931920" y="2743200"/>
            <a:ext cx="3291840" cy="1463040"/>
          </a:xfrm>
          <a:prstGeom prst="rect">
            <a:avLst/>
          </a:prstGeom>
          <a:solidFill>
            <a:srgbClr val="1C2540"/>
          </a:solidFill>
          <a:ln/>
        </p:spPr>
      </p:sp>
      <p:sp>
        <p:nvSpPr>
          <p:cNvPr id="20" name="Shape 18"/>
          <p:cNvSpPr/>
          <p:nvPr/>
        </p:nvSpPr>
        <p:spPr>
          <a:xfrm>
            <a:off x="3931920" y="2743200"/>
            <a:ext cx="3291840" cy="36576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21" name="Text 19"/>
          <p:cNvSpPr/>
          <p:nvPr/>
        </p:nvSpPr>
        <p:spPr>
          <a:xfrm>
            <a:off x="4114800" y="28803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CAF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WHERE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114800" y="315468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D4E0"/>
                </a:solidFill>
              </a:rPr>
              <a:t>全球免费开放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114800" y="338328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5A0BB"/>
                </a:solidFill>
              </a:rPr>
              <a:t>不锁在付费墙、机构许可证或封闭平台后面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5A0BB"/>
                </a:solidFill>
              </a:rPr>
              <a:t>construct-lab.site · 公众号 · Substack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44805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B44C"/>
                </a:solidFill>
              </a:rPr>
              <a:t>输入：200年战争 + 1989-2025冲突 + 每日新闻 → 输出：哪些路走得通，哪些逻辑上不可能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3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8B4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核心架构：三个维度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658368"/>
            <a:ext cx="822960" cy="27432"/>
          </a:xfrm>
          <a:prstGeom prst="rect">
            <a:avLst/>
          </a:prstGeom>
          <a:solidFill>
            <a:srgbClr val="E8B44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8229600" cy="777240"/>
          </a:xfrm>
          <a:prstGeom prst="rect">
            <a:avLst/>
          </a:prstGeom>
          <a:solidFill>
            <a:srgbClr val="1C2540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8229600" cy="36576"/>
          </a:xfrm>
          <a:prstGeom prst="rect">
            <a:avLst/>
          </a:prstGeom>
          <a:solidFill>
            <a:srgbClr val="9C27B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6187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27B0"/>
                </a:solidFill>
              </a:rPr>
              <a:t>第3维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1444752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0D4E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11层诊断框架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664208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5A0BB"/>
                </a:solidFill>
              </a:rPr>
              <a:t>L0世界事件 → L2 Identity+方法 → L4建构来源 → L8创伤 → L10六型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14400" y="2194560"/>
            <a:ext cx="7315200" cy="777240"/>
          </a:xfrm>
          <a:prstGeom prst="rect">
            <a:avLst/>
          </a:prstGeom>
          <a:solidFill>
            <a:srgbClr val="1C2540"/>
          </a:solidFill>
          <a:ln/>
        </p:spPr>
      </p:sp>
      <p:sp>
        <p:nvSpPr>
          <p:cNvPr id="10" name="Shape 8"/>
          <p:cNvSpPr/>
          <p:nvPr/>
        </p:nvSpPr>
        <p:spPr>
          <a:xfrm>
            <a:off x="914400" y="2194560"/>
            <a:ext cx="7315200" cy="36576"/>
          </a:xfrm>
          <a:prstGeom prst="rect">
            <a:avLst/>
          </a:prstGeom>
          <a:solidFill>
            <a:srgbClr val="42A5F5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226771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2A5F5"/>
                </a:solidFill>
              </a:rPr>
              <a:t>第2维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97280" y="2450592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0D4E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知识生产管线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97280" y="2670048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5A0BB"/>
                </a:solidFill>
              </a:rPr>
              <a:t>现实世界 → 数据采集 → 结构建模 → 分析解释 → 知识产品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371600" y="3200400"/>
            <a:ext cx="6400800" cy="777240"/>
          </a:xfrm>
          <a:prstGeom prst="rect">
            <a:avLst/>
          </a:prstGeom>
          <a:solidFill>
            <a:srgbClr val="1C2540"/>
          </a:solidFill>
          <a:ln/>
        </p:spPr>
      </p:sp>
      <p:sp>
        <p:nvSpPr>
          <p:cNvPr id="15" name="Shape 13"/>
          <p:cNvSpPr/>
          <p:nvPr/>
        </p:nvSpPr>
        <p:spPr>
          <a:xfrm>
            <a:off x="1371600" y="3200400"/>
            <a:ext cx="6400800" cy="36576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6" name="Text 14"/>
          <p:cNvSpPr/>
          <p:nvPr/>
        </p:nvSpPr>
        <p:spPr>
          <a:xfrm>
            <a:off x="1554480" y="32735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CAF50"/>
                </a:solidFill>
              </a:rPr>
              <a:t>第1维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554480" y="3456432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0D4E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本体层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554480" y="3675888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5A0BB"/>
                </a:solidFill>
              </a:rPr>
              <a:t>物质 → 主体 → 制度 → 叙事 → 动态 (WHAT被建模)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3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8B4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11层诊断框架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658368"/>
            <a:ext cx="822960" cy="27432"/>
          </a:xfrm>
          <a:prstGeom prst="rect">
            <a:avLst/>
          </a:prstGeom>
          <a:solidFill>
            <a:srgbClr val="E8B44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731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5A0BB"/>
                </a:solidFill>
              </a:rPr>
              <a:t>从地表（事件）一直钻到地幔（构型）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8595360" cy="347472"/>
          </a:xfrm>
          <a:prstGeom prst="rect">
            <a:avLst/>
          </a:prstGeom>
          <a:solidFill>
            <a:srgbClr val="0F131E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881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0A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05840" y="108813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0A8"/>
                </a:solidFill>
              </a:rPr>
              <a:t>世界事件 &amp; 行为观察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212080" y="108813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5A0BB"/>
                </a:solidFill>
              </a:rPr>
              <a:t>发生了什么？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1426464"/>
            <a:ext cx="8595360" cy="347472"/>
          </a:xfrm>
          <a:prstGeom prst="rect">
            <a:avLst/>
          </a:prstGeom>
          <a:solidFill>
            <a:srgbClr val="0F131E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4630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0A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05840" y="14630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0A8"/>
                </a:solidFill>
              </a:rPr>
              <a:t>行为主体识别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212080" y="1463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5A0BB"/>
                </a:solidFill>
              </a:rPr>
              <a:t>谁在做？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" y="1801368"/>
            <a:ext cx="8595360" cy="347472"/>
          </a:xfrm>
          <a:prstGeom prst="rect">
            <a:avLst/>
          </a:prstGeom>
          <a:solidFill>
            <a:srgbClr val="1C2540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183794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B4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05840" y="183794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B44C"/>
                </a:solidFill>
              </a:rPr>
              <a:t>Identity（核心身份）+ 方法阶段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212080" y="183794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5A0BB"/>
                </a:solidFill>
              </a:rPr>
              <a:t>它认为自己是什么？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4320" y="2176272"/>
            <a:ext cx="8595360" cy="347472"/>
          </a:xfrm>
          <a:prstGeom prst="rect">
            <a:avLst/>
          </a:prstGeom>
          <a:solidFill>
            <a:srgbClr val="0F131E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22128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5A0B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05840" y="221284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D4E0"/>
                </a:solidFill>
              </a:rPr>
              <a:t>存在方式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212080" y="22128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5A0BB"/>
                </a:solidFill>
              </a:rPr>
              <a:t>它如何在世界上存在？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74320" y="2551176"/>
            <a:ext cx="8595360" cy="347472"/>
          </a:xfrm>
          <a:prstGeom prst="rect">
            <a:avLst/>
          </a:prstGeom>
          <a:solidFill>
            <a:srgbClr val="0F131E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25877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5A0B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05840" y="25877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D4E0"/>
                </a:solidFill>
              </a:rPr>
              <a:t>建构来源（创伤锚点/神话/制度）, L5 维持机制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212080" y="25877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5A0BB"/>
                </a:solidFill>
              </a:rPr>
              <a:t>它从哪里来？什么让它持续？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74320" y="2926080"/>
            <a:ext cx="8595360" cy="347472"/>
          </a:xfrm>
          <a:prstGeom prst="rect">
            <a:avLst/>
          </a:prstGeom>
          <a:solidFill>
            <a:srgbClr val="0F131E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296265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5A0B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L6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05840" y="296265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D4E0"/>
                </a:solidFill>
              </a:rPr>
              <a:t>秩序价值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212080" y="29626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5A0BB"/>
                </a:solidFill>
              </a:rPr>
              <a:t>它认为好的秩序是什么？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74320" y="3300984"/>
            <a:ext cx="8595360" cy="347472"/>
          </a:xfrm>
          <a:prstGeom prst="rect">
            <a:avLst/>
          </a:prstGeom>
          <a:solidFill>
            <a:srgbClr val="1C2540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33375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539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L7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005840" y="33375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3935"/>
                </a:solidFill>
              </a:rPr>
              <a:t>他者系统 + L8 创伤系统（核心恐惧）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212080" y="33375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5A0BB"/>
                </a:solidFill>
              </a:rPr>
              <a:t>它最怕失去什么？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74320" y="3675888"/>
            <a:ext cx="8595360" cy="347472"/>
          </a:xfrm>
          <a:prstGeom prst="rect">
            <a:avLst/>
          </a:prstGeom>
          <a:solidFill>
            <a:srgbClr val="0F131E"/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5A0B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L9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005840" y="371246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D4E0"/>
                </a:solidFill>
              </a:rPr>
              <a:t>战略选择 → 行动输出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212080" y="371246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5A0BB"/>
                </a:solidFill>
              </a:rPr>
              <a:t>它实际做了什么？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74320" y="4050792"/>
            <a:ext cx="8595360" cy="347472"/>
          </a:xfrm>
          <a:prstGeom prst="rect">
            <a:avLst/>
          </a:prstGeom>
          <a:solidFill>
            <a:srgbClr val="1C2540"/>
          </a:solidFill>
          <a:ln/>
        </p:spPr>
      </p:sp>
      <p:sp>
        <p:nvSpPr>
          <p:cNvPr id="38" name="Text 36"/>
          <p:cNvSpPr/>
          <p:nvPr/>
        </p:nvSpPr>
        <p:spPr>
          <a:xfrm>
            <a:off x="457200" y="40873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27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L10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005840" y="408736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27B0"/>
                </a:solidFill>
              </a:rPr>
              <a:t>生物类比六型（冻结局/扩张型/天下体系型…）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212080" y="408736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5A0BB"/>
                </a:solidFill>
              </a:rPr>
              <a:t>它属于哪种构型？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8869680" y="1051560"/>
            <a:ext cx="27432" cy="3383280"/>
          </a:xfrm>
          <a:prstGeom prst="rect">
            <a:avLst/>
          </a:prstGeom>
          <a:solidFill>
            <a:srgbClr val="E8B44C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3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8B4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数据基础设施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658368"/>
            <a:ext cx="822960" cy="27432"/>
          </a:xfrm>
          <a:prstGeom prst="rect">
            <a:avLst/>
          </a:prstGeom>
          <a:solidFill>
            <a:srgbClr val="E8B44C"/>
          </a:solidFill>
          <a:ln/>
        </p:spPr>
      </p:sp>
      <p:sp>
        <p:nvSpPr>
          <p:cNvPr id="4" name="Shape 2"/>
          <p:cNvSpPr/>
          <p:nvPr/>
        </p:nvSpPr>
        <p:spPr>
          <a:xfrm>
            <a:off x="2286000" y="1097280"/>
            <a:ext cx="4572000" cy="914400"/>
          </a:xfrm>
          <a:prstGeom prst="rect">
            <a:avLst/>
          </a:prstGeom>
          <a:solidFill>
            <a:srgbClr val="1C2540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0" y="1097280"/>
            <a:ext cx="54864" cy="91440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6" name="Text 4"/>
          <p:cNvSpPr/>
          <p:nvPr/>
        </p:nvSpPr>
        <p:spPr>
          <a:xfrm>
            <a:off x="2468880" y="11887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CAF50"/>
                </a:solidFill>
              </a:rPr>
              <a:t>脉冲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468880" y="1371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CAF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GDELT 2.0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389120" y="140817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5A0BB"/>
                </a:solidFill>
              </a:rPr>
              <a:t>30天 · ~700/天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468880" y="1691640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0C8D8"/>
                </a:solidFill>
              </a:rPr>
              <a:t>今天在吵什么？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371600" y="2148840"/>
            <a:ext cx="6400800" cy="914400"/>
          </a:xfrm>
          <a:prstGeom prst="rect">
            <a:avLst/>
          </a:prstGeom>
          <a:solidFill>
            <a:srgbClr val="1C2540"/>
          </a:solidFill>
          <a:ln/>
        </p:spPr>
      </p:sp>
      <p:sp>
        <p:nvSpPr>
          <p:cNvPr id="11" name="Shape 9"/>
          <p:cNvSpPr/>
          <p:nvPr/>
        </p:nvSpPr>
        <p:spPr>
          <a:xfrm>
            <a:off x="1371600" y="2148840"/>
            <a:ext cx="54864" cy="914400"/>
          </a:xfrm>
          <a:prstGeom prst="rect">
            <a:avLst/>
          </a:prstGeom>
          <a:solidFill>
            <a:srgbClr val="42A5F5"/>
          </a:solidFill>
          <a:ln/>
        </p:spPr>
      </p:sp>
      <p:sp>
        <p:nvSpPr>
          <p:cNvPr id="12" name="Text 10"/>
          <p:cNvSpPr/>
          <p:nvPr/>
        </p:nvSpPr>
        <p:spPr>
          <a:xfrm>
            <a:off x="1554480" y="224028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2A5F5"/>
                </a:solidFill>
              </a:rPr>
              <a:t>肌肉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554480" y="2423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2A5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UCDP GED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474720" y="245973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5A0BB"/>
                </a:solidFill>
              </a:rPr>
              <a:t>1989-2025 · 42万条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554480" y="2743200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0C8D8"/>
                </a:solidFill>
              </a:rPr>
              <a:t>当代冲突有多烈？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solidFill>
            <a:srgbClr val="1C2540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3200400"/>
            <a:ext cx="54864" cy="914400"/>
          </a:xfrm>
          <a:prstGeom prst="rect">
            <a:avLst/>
          </a:prstGeom>
          <a:solidFill>
            <a:srgbClr val="E8B44C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2918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B44C"/>
                </a:solidFill>
              </a:rPr>
              <a:t>骨架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0080" y="3474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B4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COW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2560320" y="351129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5A0BB"/>
                </a:solidFill>
              </a:rPr>
              <a:t>1816-2014 · MID+War+Alliance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" y="3794760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0C8D8"/>
                </a:solidFill>
              </a:rPr>
              <a:t>200年硬约束是什么？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44348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CAF50"/>
                </a:solidFill>
              </a:rPr>
              <a:t>双轨采集：actor track (53主体) + structural track (8领域)  →  三级验证：cross_checked → pending → verified  →  绝不自动标verified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3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8B4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八节点日更环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658368"/>
            <a:ext cx="822960" cy="27432"/>
          </a:xfrm>
          <a:prstGeom prst="rect">
            <a:avLst/>
          </a:prstGeom>
          <a:solidFill>
            <a:srgbClr val="E8B44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731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5A0BB"/>
                </a:solidFill>
              </a:rPr>
              <a:t>每天 CST 08:00 自动触发 · 零人工干预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502920" cy="438912"/>
          </a:xfrm>
          <a:prstGeom prst="rect">
            <a:avLst/>
          </a:prstGeom>
          <a:solidFill>
            <a:srgbClr val="E8B44C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060704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102412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B4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① Collect GDELT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1243584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5A0BB"/>
                </a:solidFill>
              </a:rPr>
              <a:t>双轨采集 → PG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1490472"/>
            <a:ext cx="502920" cy="438912"/>
          </a:xfrm>
          <a:prstGeom prst="rect">
            <a:avLst/>
          </a:prstGeom>
          <a:solidFill>
            <a:srgbClr val="42A5F5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1545336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150876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2A5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② Verify Loop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172821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5A0BB"/>
                </a:solidFill>
              </a:rPr>
              <a:t>三级分桶 → review_queue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" y="1975104"/>
            <a:ext cx="502920" cy="438912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4" name="Text 12"/>
          <p:cNvSpPr/>
          <p:nvPr/>
        </p:nvSpPr>
        <p:spPr>
          <a:xfrm>
            <a:off x="274320" y="2029968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14400" y="199339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CAF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③ Detect Anomalies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221284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5A0BB"/>
                </a:solidFill>
              </a:rPr>
              <a:t>tone/脉冲/结构异常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4320" y="2459736"/>
            <a:ext cx="502920" cy="438912"/>
          </a:xfrm>
          <a:prstGeom prst="rect">
            <a:avLst/>
          </a:prstGeom>
          <a:solidFill>
            <a:srgbClr val="9C27B0"/>
          </a:solidFill>
          <a:ln/>
        </p:spPr>
      </p:sp>
      <p:sp>
        <p:nvSpPr>
          <p:cNvPr id="18" name="Text 16"/>
          <p:cNvSpPr/>
          <p:nvPr/>
        </p:nvSpPr>
        <p:spPr>
          <a:xfrm>
            <a:off x="274320" y="2514600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14400" y="247802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27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④ Check Structure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14400" y="269748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5A0BB"/>
                </a:solidFill>
              </a:rPr>
              <a:t>114验证项 → feedback_rules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74320" y="2944368"/>
            <a:ext cx="502920" cy="438912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22" name="Text 20"/>
          <p:cNvSpPr/>
          <p:nvPr/>
        </p:nvSpPr>
        <p:spPr>
          <a:xfrm>
            <a:off x="274320" y="2999232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14400" y="296265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39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⑤ Ingest Events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14400" y="3182112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5A0BB"/>
                </a:solidFill>
              </a:rPr>
              <a:t>PG → Neo4j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74320" y="3429000"/>
            <a:ext cx="502920" cy="438912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26" name="Text 24"/>
          <p:cNvSpPr/>
          <p:nvPr/>
        </p:nvSpPr>
        <p:spPr>
          <a:xfrm>
            <a:off x="274320" y="3483864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14400" y="344728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98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⑥ Ingest Prices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14400" y="3666744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5A0BB"/>
                </a:solidFill>
              </a:rPr>
              <a:t>FRED 10标的 → Neo4j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74320" y="3913632"/>
            <a:ext cx="502920" cy="438912"/>
          </a:xfrm>
          <a:prstGeom prst="rect">
            <a:avLst/>
          </a:prstGeom>
          <a:solidFill>
            <a:srgbClr val="E8B44C"/>
          </a:solidFill>
          <a:ln/>
        </p:spPr>
      </p:sp>
      <p:sp>
        <p:nvSpPr>
          <p:cNvPr id="30" name="Text 28"/>
          <p:cNvSpPr/>
          <p:nvPr/>
        </p:nvSpPr>
        <p:spPr>
          <a:xfrm>
            <a:off x="274320" y="3968496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14400" y="39319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B4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⑦ Generate Map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14400" y="415137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5A0BB"/>
                </a:solidFill>
              </a:rPr>
              <a:t>world_map.html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74320" y="4398264"/>
            <a:ext cx="502920" cy="438912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4" name="Text 32"/>
          <p:cNvSpPr/>
          <p:nvPr/>
        </p:nvSpPr>
        <p:spPr>
          <a:xfrm>
            <a:off x="274320" y="4453128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914400" y="441655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CAF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⑧ Publish Queue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914400" y="463600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5A0BB"/>
                </a:solidFill>
              </a:rPr>
              <a:t>审计队列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3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8B4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分析引擎与结构反证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658368"/>
            <a:ext cx="822960" cy="27432"/>
          </a:xfrm>
          <a:prstGeom prst="rect">
            <a:avLst/>
          </a:prstGeom>
          <a:solidFill>
            <a:srgbClr val="E8B44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3931920" cy="1554480"/>
          </a:xfrm>
          <a:prstGeom prst="rect">
            <a:avLst/>
          </a:prstGeom>
          <a:solidFill>
            <a:srgbClr val="1C2540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3931920" cy="36576"/>
          </a:xfrm>
          <a:prstGeom prst="rect">
            <a:avLst/>
          </a:prstGeom>
          <a:solidFill>
            <a:srgbClr val="9C27B0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2344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C27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诊断引擎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4360" y="15087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5A0BB"/>
                </a:solidFill>
              </a:rPr>
              <a:t>engine_v5.py + DeepSeek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73736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0D4E0"/>
                </a:solidFill>
              </a:rPr>
              <a:t>PG+Neo4j+COW骨架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0D4E0"/>
                </a:solidFill>
              </a:rPr>
              <a:t>→ 11层诊断报告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0D4E0"/>
                </a:solidFill>
              </a:rPr>
              <a:t>→ 53主体 timelines JSON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3931920" cy="1554480"/>
          </a:xfrm>
          <a:prstGeom prst="rect">
            <a:avLst/>
          </a:prstGeom>
          <a:solidFill>
            <a:srgbClr val="1C2540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2743200"/>
            <a:ext cx="3931920" cy="36576"/>
          </a:xfrm>
          <a:prstGeom prst="rect">
            <a:avLst/>
          </a:prstGeom>
          <a:solidFill>
            <a:srgbClr val="E8B44C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28803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B4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推演引擎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94360" y="315468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5A0BB"/>
                </a:solidFill>
              </a:rPr>
              <a:t>路径枚举 + 逻辑排除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" y="338328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0D4E0"/>
                </a:solidFill>
              </a:rPr>
              <a:t>不做概率预测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0D4E0"/>
                </a:solidFill>
              </a:rPr>
              <a:t>枚举结构上可能的路径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0D4E0"/>
                </a:solidFill>
              </a:rPr>
              <a:t>消除逻辑上不可能的路径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0D4E0"/>
                </a:solidFill>
              </a:rPr>
              <a:t>每个推演带结构性前提标注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46320" y="10972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539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结构反证系统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846320" y="1508760"/>
            <a:ext cx="3840480" cy="320040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16" name="Text 14"/>
          <p:cNvSpPr/>
          <p:nvPr/>
        </p:nvSpPr>
        <p:spPr>
          <a:xfrm>
            <a:off x="4983480" y="1536192"/>
            <a:ext cx="35661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主体行为偏离结构假设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92240" y="1801368"/>
            <a:ext cx="457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8B44C"/>
                </a:solidFill>
              </a:rPr>
              <a:t>▼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846320" y="1856232"/>
            <a:ext cx="3840480" cy="320040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19" name="Text 17"/>
          <p:cNvSpPr/>
          <p:nvPr/>
        </p:nvSpPr>
        <p:spPr>
          <a:xfrm>
            <a:off x="4983480" y="1883664"/>
            <a:ext cx="35661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检测矛盾信号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92240" y="2148840"/>
            <a:ext cx="457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8B44C"/>
                </a:solidFill>
              </a:rPr>
              <a:t>▼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846320" y="2203704"/>
            <a:ext cx="3840480" cy="320040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22" name="Text 20"/>
          <p:cNvSpPr/>
          <p:nvPr/>
        </p:nvSpPr>
        <p:spPr>
          <a:xfrm>
            <a:off x="4983480" y="2231136"/>
            <a:ext cx="35661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降低该假设置信度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92240" y="2496312"/>
            <a:ext cx="457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8B44C"/>
                </a:solidFill>
              </a:rPr>
              <a:t>▼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846320" y="2551176"/>
            <a:ext cx="3840480" cy="32004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25" name="Text 23"/>
          <p:cNvSpPr/>
          <p:nvPr/>
        </p:nvSpPr>
        <p:spPr>
          <a:xfrm>
            <a:off x="4983480" y="2578608"/>
            <a:ext cx="35661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累积超阈值 → 人工复核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92240" y="2843784"/>
            <a:ext cx="457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8B44C"/>
                </a:solidFill>
              </a:rPr>
              <a:t>▼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846320" y="2898648"/>
            <a:ext cx="3840480" cy="32004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28" name="Text 26"/>
          <p:cNvSpPr/>
          <p:nvPr/>
        </p:nvSpPr>
        <p:spPr>
          <a:xfrm>
            <a:off x="4983480" y="2926080"/>
            <a:ext cx="35661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更新假设 → 推演重校准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46320" y="356616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CAF50"/>
                </a:solidFill>
              </a:rPr>
              <a:t>53主体 × 114验证项 已就位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CAF50"/>
                </a:solidFill>
              </a:rPr>
              <a:t>设计原则：结构诊断可被数据反证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3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8B4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世界冲突时间地图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658368"/>
            <a:ext cx="822960" cy="27432"/>
          </a:xfrm>
          <a:prstGeom prst="rect">
            <a:avLst/>
          </a:prstGeom>
          <a:solidFill>
            <a:srgbClr val="E8B44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731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5A0BB"/>
                </a:solidFill>
              </a:rPr>
              <a:t>construct-lab.site/map  ·  Keyless ·  Leaflet+OSM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54864" cy="658368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13385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539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UCDP 冲突热点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5A0BB"/>
                </a:solidFill>
              </a:rPr>
              <a:t>126国 · 比例尺圆 · 1989-2025滑块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1828800"/>
            <a:ext cx="54864" cy="658368"/>
          </a:xfrm>
          <a:prstGeom prst="rect">
            <a:avLst/>
          </a:prstGeom>
          <a:solidFill>
            <a:srgbClr val="E8B44C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86537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B4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COW 领土变更流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10312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5A0BB"/>
                </a:solidFill>
              </a:rPr>
              <a:t>200年虚线骨架 · 真实领土坐标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2560320"/>
            <a:ext cx="54864" cy="658368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59689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CAF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GDELT 情绪脉冲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283464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5A0BB"/>
                </a:solidFill>
              </a:rPr>
              <a:t>48h绿/红点 · 图层独立开关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3291840"/>
            <a:ext cx="54864" cy="658368"/>
          </a:xfrm>
          <a:prstGeom prst="rect">
            <a:avLst/>
          </a:prstGeom>
          <a:solidFill>
            <a:srgbClr val="9C27B0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32841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27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结构领域面板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356616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5A0BB"/>
                </a:solidFill>
              </a:rPr>
              <a:t>金融/AI/能源/产业链 · 90天折线图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4023360"/>
            <a:ext cx="54864" cy="658368"/>
          </a:xfrm>
          <a:prstGeom prst="rect">
            <a:avLst/>
          </a:prstGeom>
          <a:solidFill>
            <a:srgbClr val="42A5F5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05993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2A5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80+国家坐标补全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429768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5A0BB"/>
                </a:solidFill>
              </a:rPr>
              <a:t>非洲/拉美等数据黑洞被修复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0" y="1097280"/>
            <a:ext cx="3200400" cy="3200400"/>
          </a:xfrm>
          <a:prstGeom prst="rect">
            <a:avLst/>
          </a:prstGeom>
          <a:solidFill>
            <a:srgbClr val="1C2540"/>
          </a:solidFill>
          <a:ln/>
        </p:spPr>
      </p:sp>
      <p:sp>
        <p:nvSpPr>
          <p:cNvPr id="21" name="Text 19"/>
          <p:cNvSpPr/>
          <p:nvPr/>
        </p:nvSpPr>
        <p:spPr>
          <a:xfrm>
            <a:off x="5669280" y="1280160"/>
            <a:ext cx="2834640" cy="2834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0D4E0"/>
                </a:solidFill>
              </a:rPr>
              <a:t>🌍 交互式地图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0D4E0"/>
                </a:solidFill>
              </a:rPr>
              <a:t>Top 4 Hotspots: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0D4E0"/>
                </a:solidFill>
              </a:rPr>
              <a:t>Ethiopia 509K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0D4E0"/>
                </a:solidFill>
              </a:rPr>
              <a:t>Syria   416K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0D4E0"/>
                </a:solidFill>
              </a:rPr>
              <a:t>Ukraine 368K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0D4E0"/>
                </a:solidFill>
              </a:rPr>
              <a:t>Afghan  318K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0D4E0"/>
                </a:solidFill>
              </a:rPr>
              <a:t>年份滑块拖动 →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0D4E0"/>
                </a:solidFill>
              </a:rPr>
              <a:t>实时刷新冲突圆点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3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8B4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内容输出：九种形态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658368"/>
            <a:ext cx="822960" cy="27432"/>
          </a:xfrm>
          <a:prstGeom prst="rect">
            <a:avLst/>
          </a:prstGeom>
          <a:solidFill>
            <a:srgbClr val="E8B44C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051560"/>
            <a:ext cx="8595360" cy="438912"/>
          </a:xfrm>
          <a:prstGeom prst="rect">
            <a:avLst/>
          </a:prstGeom>
          <a:solidFill>
            <a:srgbClr val="1C2540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1051560"/>
            <a:ext cx="36576" cy="438912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06424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CAF50"/>
                </a:solidFill>
              </a:rPr>
              <a:t>P0 已启动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920240" y="110642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D4E0"/>
                </a:solidFill>
              </a:rPr>
              <a:t>国别结构诊断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920240" y="128930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5A0BB"/>
                </a:solidFill>
              </a:rPr>
              <a:t>Tier1 8国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1527048"/>
            <a:ext cx="8595360" cy="438912"/>
          </a:xfrm>
          <a:prstGeom prst="rect">
            <a:avLst/>
          </a:prstGeom>
          <a:solidFill>
            <a:srgbClr val="1C2540"/>
          </a:solidFill>
          <a:ln/>
        </p:spPr>
      </p:sp>
      <p:sp>
        <p:nvSpPr>
          <p:cNvPr id="10" name="Shape 8"/>
          <p:cNvSpPr/>
          <p:nvPr/>
        </p:nvSpPr>
        <p:spPr>
          <a:xfrm>
            <a:off x="274320" y="1527048"/>
            <a:ext cx="36576" cy="438912"/>
          </a:xfrm>
          <a:prstGeom prst="rect">
            <a:avLst/>
          </a:prstGeom>
          <a:solidFill>
            <a:srgbClr val="E8B44C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58191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CAF50"/>
                </a:solidFill>
              </a:rPr>
              <a:t>P0 已启动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920240" y="158191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D4E0"/>
                </a:solidFill>
              </a:rPr>
              <a:t>结构词典 + 事件快评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920240" y="176479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5A0BB"/>
                </a:solidFill>
              </a:rPr>
              <a:t>防AI洗脑疫苗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" y="2002536"/>
            <a:ext cx="8595360" cy="438912"/>
          </a:xfrm>
          <a:prstGeom prst="rect">
            <a:avLst/>
          </a:prstGeom>
          <a:solidFill>
            <a:srgbClr val="0F131E"/>
          </a:solidFill>
          <a:ln/>
        </p:spPr>
      </p:sp>
      <p:sp>
        <p:nvSpPr>
          <p:cNvPr id="15" name="Shape 13"/>
          <p:cNvSpPr/>
          <p:nvPr/>
        </p:nvSpPr>
        <p:spPr>
          <a:xfrm>
            <a:off x="274320" y="2002536"/>
            <a:ext cx="36576" cy="438912"/>
          </a:xfrm>
          <a:prstGeom prst="rect">
            <a:avLst/>
          </a:prstGeom>
          <a:solidFill>
            <a:srgbClr val="42A5F5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05740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5A0BB"/>
                </a:solidFill>
              </a:rPr>
              <a:t>P1 短期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920240" y="20574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D4E0"/>
                </a:solidFill>
              </a:rPr>
              <a:t>构型迁移预警 + 数据卡片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920240" y="224028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5A0BB"/>
                </a:solidFill>
              </a:rPr>
              <a:t>内审已就位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" y="2478024"/>
            <a:ext cx="8595360" cy="438912"/>
          </a:xfrm>
          <a:prstGeom prst="rect">
            <a:avLst/>
          </a:prstGeom>
          <a:solidFill>
            <a:srgbClr val="0F131E"/>
          </a:solidFill>
          <a:ln/>
        </p:spPr>
      </p:sp>
      <p:sp>
        <p:nvSpPr>
          <p:cNvPr id="20" name="Shape 18"/>
          <p:cNvSpPr/>
          <p:nvPr/>
        </p:nvSpPr>
        <p:spPr>
          <a:xfrm>
            <a:off x="274320" y="2478024"/>
            <a:ext cx="36576" cy="438912"/>
          </a:xfrm>
          <a:prstGeom prst="rect">
            <a:avLst/>
          </a:prstGeom>
          <a:solidFill>
            <a:srgbClr val="42A5F5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253288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5A0BB"/>
                </a:solidFill>
              </a:rPr>
              <a:t>P1 短期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920240" y="253288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D4E0"/>
                </a:solidFill>
              </a:rPr>
              <a:t>时序报告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920240" y="271576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5A0BB"/>
                </a:solidFill>
              </a:rPr>
              <a:t>月报框架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74320" y="2953512"/>
            <a:ext cx="8595360" cy="438912"/>
          </a:xfrm>
          <a:prstGeom prst="rect">
            <a:avLst/>
          </a:prstGeom>
          <a:solidFill>
            <a:srgbClr val="0F131E"/>
          </a:solidFill>
          <a:ln/>
        </p:spPr>
      </p:sp>
      <p:sp>
        <p:nvSpPr>
          <p:cNvPr id="25" name="Shape 23"/>
          <p:cNvSpPr/>
          <p:nvPr/>
        </p:nvSpPr>
        <p:spPr>
          <a:xfrm>
            <a:off x="274320" y="2953512"/>
            <a:ext cx="36576" cy="438912"/>
          </a:xfrm>
          <a:prstGeom prst="rect">
            <a:avLst/>
          </a:prstGeom>
          <a:solidFill>
            <a:srgbClr val="95A0BB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300837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5A0BB"/>
                </a:solidFill>
              </a:rPr>
              <a:t>P2 中期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920240" y="300837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D4E0"/>
                </a:solidFill>
              </a:rPr>
              <a:t>情景推演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920240" y="3191256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5A0BB"/>
                </a:solidFill>
              </a:rPr>
              <a:t>路径枚举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74320" y="3429000"/>
            <a:ext cx="8595360" cy="438912"/>
          </a:xfrm>
          <a:prstGeom prst="rect">
            <a:avLst/>
          </a:prstGeom>
          <a:solidFill>
            <a:srgbClr val="0F131E"/>
          </a:solidFill>
          <a:ln/>
        </p:spPr>
      </p:sp>
      <p:sp>
        <p:nvSpPr>
          <p:cNvPr id="30" name="Shape 28"/>
          <p:cNvSpPr/>
          <p:nvPr/>
        </p:nvSpPr>
        <p:spPr>
          <a:xfrm>
            <a:off x="274320" y="3429000"/>
            <a:ext cx="36576" cy="438912"/>
          </a:xfrm>
          <a:prstGeom prst="rect">
            <a:avLst/>
          </a:prstGeom>
          <a:solidFill>
            <a:srgbClr val="95A0BB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3483864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5A0BB"/>
                </a:solidFill>
              </a:rPr>
              <a:t>P2 中期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920240" y="348386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D4E0"/>
                </a:solidFill>
              </a:rPr>
              <a:t>构型对比 + 叙事考古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920240" y="366674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5A0BB"/>
                </a:solidFill>
              </a:rPr>
              <a:t>日-韩 / 修昔底德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57200" y="43891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B44C"/>
                </a:solidFill>
              </a:rPr>
              <a:t>四原则：数据锚定 · 结构驱动 · 叙事识别 · 不确定性标注 [高/中/低，依据:…]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3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8B4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P0：国别结构诊断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658368"/>
            <a:ext cx="822960" cy="27432"/>
          </a:xfrm>
          <a:prstGeom prst="rect">
            <a:avLst/>
          </a:prstGeom>
          <a:solidFill>
            <a:srgbClr val="E8B44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731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5A0BB"/>
                </a:solidFill>
              </a:rPr>
              <a:t>四份 Tier1 报告已生成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5029200" cy="594360"/>
          </a:xfrm>
          <a:prstGeom prst="rect">
            <a:avLst/>
          </a:prstGeom>
          <a:solidFill>
            <a:srgbClr val="1C254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6187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美国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48132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D4E0"/>
                </a:solidFill>
              </a:rPr>
              <a:t>方法⑤ vs Identity 区分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1280160"/>
            <a:ext cx="457200" cy="41148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13258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A-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74320" y="1920240"/>
            <a:ext cx="5029200" cy="594360"/>
          </a:xfrm>
          <a:prstGeom prst="rect">
            <a:avLst/>
          </a:prstGeom>
          <a:solidFill>
            <a:srgbClr val="1C2540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99339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日本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221284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D4E0"/>
                </a:solidFill>
              </a:rPr>
              <a:t>"冻结局是方法不是Identity"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2011680"/>
            <a:ext cx="457200" cy="411480"/>
          </a:xfrm>
          <a:prstGeom prst="rect">
            <a:avLst/>
          </a:prstGeom>
          <a:solidFill>
            <a:srgbClr val="42A5F5"/>
          </a:solidFill>
          <a:ln/>
        </p:spPr>
      </p:sp>
      <p:sp>
        <p:nvSpPr>
          <p:cNvPr id="14" name="Text 12"/>
          <p:cNvSpPr/>
          <p:nvPr/>
        </p:nvSpPr>
        <p:spPr>
          <a:xfrm>
            <a:off x="4663440" y="20574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74320" y="2651760"/>
            <a:ext cx="5029200" cy="594360"/>
          </a:xfrm>
          <a:prstGeom prst="rect">
            <a:avLst/>
          </a:prstGeom>
          <a:solidFill>
            <a:srgbClr val="1C2540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7249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俄罗斯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7200" y="294436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D4E0"/>
                </a:solidFill>
              </a:rPr>
              <a:t>"无对手的对抗"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63440" y="2743200"/>
            <a:ext cx="457200" cy="411480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19" name="Text 17"/>
          <p:cNvSpPr/>
          <p:nvPr/>
        </p:nvSpPr>
        <p:spPr>
          <a:xfrm>
            <a:off x="4663440" y="27889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A-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274320" y="3383280"/>
            <a:ext cx="5029200" cy="594360"/>
          </a:xfrm>
          <a:prstGeom prst="rect">
            <a:avLst/>
          </a:prstGeom>
          <a:solidFill>
            <a:srgbClr val="1C2540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45643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中国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57200" y="367588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D4E0"/>
                </a:solidFill>
              </a:rPr>
              <a:t>"天下体系"框架解释南海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663440" y="3474720"/>
            <a:ext cx="457200" cy="411480"/>
          </a:xfrm>
          <a:prstGeom prst="rect">
            <a:avLst/>
          </a:prstGeom>
          <a:solidFill>
            <a:srgbClr val="E8B44C"/>
          </a:solidFill>
          <a:ln/>
        </p:spPr>
      </p:sp>
      <p:sp>
        <p:nvSpPr>
          <p:cNvPr id="24" name="Text 22"/>
          <p:cNvSpPr/>
          <p:nvPr/>
        </p:nvSpPr>
        <p:spPr>
          <a:xfrm>
            <a:off x="4663440" y="3520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B+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57200" y="416052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5A0BB"/>
                </a:solidFill>
              </a:rPr>
              <a:t>报告结构：信号切入 → 身份解释 → 历史约束 → 结构性判断 → 叙事识别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760720" y="11887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B4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事件快评（P0 待开发）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760720" y="155448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0D4E0"/>
                </a:solidFill>
              </a:rPr>
              <a:t>GDELT异常检测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0D4E0"/>
                </a:solidFill>
              </a:rPr>
              <a:t>→ DeepSeek生成500-800字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0D4E0"/>
                </a:solidFill>
              </a:rPr>
              <a:t>→ 审计队列 → 人工5分钟审定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0D4E0"/>
                </a:solidFill>
              </a:rPr>
              <a:t>→ 发布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760720" y="26517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CAF50"/>
                </a:solidFill>
              </a:rPr>
              <a:t>今天检测到3条异常：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CAF50"/>
                </a:solidFill>
              </a:rPr>
              <a:t>IRN -4.13 · UKR -3.44 · ISR -4.71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3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8B4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P1：数据卡片与构型迁移预警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658368"/>
            <a:ext cx="822960" cy="27432"/>
          </a:xfrm>
          <a:prstGeom prst="rect">
            <a:avLst/>
          </a:prstGeom>
          <a:solidFill>
            <a:srgbClr val="E8B44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3931920" cy="3200400"/>
          </a:xfrm>
          <a:prstGeom prst="rect">
            <a:avLst/>
          </a:prstGeom>
          <a:solidFill>
            <a:srgbClr val="1C254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8872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2A5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数据卡片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3566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0D4E0"/>
                </a:solidFill>
              </a:rPr>
              <a:t>单一主体/主题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0D4E0"/>
                </a:solidFill>
              </a:rPr>
              <a:t>3-5张图表 + 1-2句结论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0D4E0"/>
                </a:solidFill>
              </a:rPr>
              <a:t>情绪趋势 / 事件密度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0D4E0"/>
                </a:solidFill>
              </a:rPr>
              <a:t>冲突周期 / 领土变更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0D4E0"/>
                </a:solidFill>
              </a:rPr>
              <a:t>使用：社交媒体、报告摘要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0D4E0"/>
                </a:solidFill>
              </a:rPr>
              <a:t>低投入高回报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3931920" cy="3200400"/>
          </a:xfrm>
          <a:prstGeom prst="rect">
            <a:avLst/>
          </a:prstGeom>
          <a:solidFill>
            <a:srgbClr val="1C2540"/>
          </a:solidFill>
          <a:ln/>
        </p:spPr>
      </p:sp>
      <p:sp>
        <p:nvSpPr>
          <p:cNvPr id="8" name="Text 6"/>
          <p:cNvSpPr/>
          <p:nvPr/>
        </p:nvSpPr>
        <p:spPr>
          <a:xfrm>
            <a:off x="4937760" y="118872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B4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时序报告 + 构型迁移预警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37760" y="1554480"/>
            <a:ext cx="3566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0D4E0"/>
                </a:solidFill>
              </a:rPr>
              <a:t>月度汇总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0D4E0"/>
                </a:solidFill>
              </a:rPr>
              <a:t>时间线 + 国别更新 + 趋势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0D4E0"/>
                </a:solidFill>
              </a:rPr>
              <a:t>构型迁移：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0D4E0"/>
                </a:solidFill>
              </a:rPr>
              <a:t>行为 vs 假设系统性偏差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0D4E0"/>
                </a:solidFill>
              </a:rPr>
              <a:t>→ 置信度下降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0D4E0"/>
                </a:solidFill>
              </a:rPr>
              <a:t>→ 人工复核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0D4E0"/>
                </a:solidFill>
              </a:rPr>
              <a:t>114验证项已就位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3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8B4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P2：深度与差异化内容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658368"/>
            <a:ext cx="822960" cy="27432"/>
          </a:xfrm>
          <a:prstGeom prst="rect">
            <a:avLst/>
          </a:prstGeom>
          <a:solidFill>
            <a:srgbClr val="E8B44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2560320" cy="2103120"/>
          </a:xfrm>
          <a:prstGeom prst="rect">
            <a:avLst/>
          </a:prstGeom>
          <a:solidFill>
            <a:srgbClr val="1C2540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3258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27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情景推演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1645920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0D4E0"/>
                </a:solidFill>
              </a:rPr>
              <a:t>"如果X发生，Y如何反应"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0D4E0"/>
                </a:solidFill>
              </a:rPr>
              <a:t>枚举可能路径 + 排除不可能路径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0D4E0"/>
                </a:solidFill>
              </a:rPr>
              <a:t>不可逆点标注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0D4E0"/>
                </a:solidFill>
              </a:rPr>
              <a:t>首篇：台湾情境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91840" y="1188720"/>
            <a:ext cx="2560320" cy="2103120"/>
          </a:xfrm>
          <a:prstGeom prst="rect">
            <a:avLst/>
          </a:prstGeom>
          <a:solidFill>
            <a:srgbClr val="1C2540"/>
          </a:solidFill>
          <a:ln/>
        </p:spPr>
      </p:sp>
      <p:sp>
        <p:nvSpPr>
          <p:cNvPr id="8" name="Text 6"/>
          <p:cNvSpPr/>
          <p:nvPr/>
        </p:nvSpPr>
        <p:spPr>
          <a:xfrm>
            <a:off x="3429000" y="13258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2A5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构型对比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429000" y="1645920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0D4E0"/>
                </a:solidFill>
              </a:rPr>
              <a:t>两个同构型国家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0D4E0"/>
                </a:solidFill>
              </a:rPr>
              <a:t>为何走相反方向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0D4E0"/>
                </a:solidFill>
              </a:rPr>
              <a:t>示例：日-韩 (同为冻结局)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0D4E0"/>
                </a:solidFill>
              </a:rPr>
              <a:t>别人做国别对比，你做结构对比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126480" y="1188720"/>
            <a:ext cx="2560320" cy="2103120"/>
          </a:xfrm>
          <a:prstGeom prst="rect">
            <a:avLst/>
          </a:prstGeom>
          <a:solidFill>
            <a:srgbClr val="1C2540"/>
          </a:solidFill>
          <a:ln/>
        </p:spPr>
      </p:sp>
      <p:sp>
        <p:nvSpPr>
          <p:cNvPr id="11" name="Text 9"/>
          <p:cNvSpPr/>
          <p:nvPr/>
        </p:nvSpPr>
        <p:spPr>
          <a:xfrm>
            <a:off x="6263640" y="13258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B4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叙事考古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263640" y="1645920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0D4E0"/>
                </a:solidFill>
              </a:rPr>
              <a:t>挑流行叙事 → COW 200年检验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0D4E0"/>
                </a:solidFill>
              </a:rPr>
              <a:t>首篇："修昔底德陷阱"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0D4E0"/>
                </a:solidFill>
              </a:rPr>
              <a:t>你有长期证据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0D4E0"/>
                </a:solidFill>
              </a:rPr>
              <a:t>别人只有短期情绪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3657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CAF50"/>
                </a:solidFill>
              </a:rPr>
              <a:t>结构词典——P0边跑边建，防AI洗脑的疫苗 | 构型迁移预警——内审版已就位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3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8B4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反洗脑四标准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658368"/>
            <a:ext cx="822960" cy="27432"/>
          </a:xfrm>
          <a:prstGeom prst="rect">
            <a:avLst/>
          </a:prstGeom>
          <a:solidFill>
            <a:srgbClr val="E8B44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731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5A0BB"/>
                </a:solidFill>
              </a:rPr>
              <a:t>所有内容产出必须满足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solidFill>
            <a:srgbClr val="1C2540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280160"/>
            <a:ext cx="457200" cy="45720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3258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371600" y="12618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CAF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数据锚定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1536192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5A0BB"/>
                </a:solidFill>
              </a:rPr>
              <a:t>每个判断都能追溯到 GDELT/COW/UCDP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965960"/>
            <a:ext cx="8229600" cy="640080"/>
          </a:xfrm>
          <a:prstGeom prst="rect">
            <a:avLst/>
          </a:prstGeom>
          <a:solidFill>
            <a:srgbClr val="1C2540"/>
          </a:solidFill>
          <a:ln/>
        </p:spPr>
      </p:sp>
      <p:sp>
        <p:nvSpPr>
          <p:cNvPr id="11" name="Shape 9"/>
          <p:cNvSpPr/>
          <p:nvPr/>
        </p:nvSpPr>
        <p:spPr>
          <a:xfrm>
            <a:off x="640080" y="2057400"/>
            <a:ext cx="457200" cy="457200"/>
          </a:xfrm>
          <a:prstGeom prst="ellipse">
            <a:avLst/>
          </a:prstGeom>
          <a:solidFill>
            <a:srgbClr val="42A5F5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1031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371600" y="203911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2A5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结构驱动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71600" y="2313432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5A0BB"/>
                </a:solidFill>
              </a:rPr>
              <a:t>能看到"身份→方法→行为"的逻辑链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743200"/>
            <a:ext cx="8229600" cy="640080"/>
          </a:xfrm>
          <a:prstGeom prst="rect">
            <a:avLst/>
          </a:prstGeom>
          <a:solidFill>
            <a:srgbClr val="1C2540"/>
          </a:solidFill>
          <a:ln/>
        </p:spPr>
      </p:sp>
      <p:sp>
        <p:nvSpPr>
          <p:cNvPr id="16" name="Shape 14"/>
          <p:cNvSpPr/>
          <p:nvPr/>
        </p:nvSpPr>
        <p:spPr>
          <a:xfrm>
            <a:off x="640080" y="2834640"/>
            <a:ext cx="457200" cy="457200"/>
          </a:xfrm>
          <a:prstGeom prst="ellipse">
            <a:avLst/>
          </a:prstGeom>
          <a:solidFill>
            <a:srgbClr val="E8B44C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8803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371600" y="28163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B4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叙事识别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71600" y="3090672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5A0BB"/>
                </a:solidFill>
              </a:rPr>
              <a:t>每份报告有"别被哪种叙事忽悠"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520440"/>
            <a:ext cx="8229600" cy="640080"/>
          </a:xfrm>
          <a:prstGeom prst="rect">
            <a:avLst/>
          </a:prstGeom>
          <a:solidFill>
            <a:srgbClr val="1C2540"/>
          </a:solidFill>
          <a:ln/>
        </p:spPr>
      </p:sp>
      <p:sp>
        <p:nvSpPr>
          <p:cNvPr id="21" name="Shape 19"/>
          <p:cNvSpPr/>
          <p:nvPr/>
        </p:nvSpPr>
        <p:spPr>
          <a:xfrm>
            <a:off x="640080" y="3611880"/>
            <a:ext cx="457200" cy="457200"/>
          </a:xfrm>
          <a:prstGeom prst="ellipse">
            <a:avLst/>
          </a:prstGeom>
          <a:solidFill>
            <a:srgbClr val="9C27B0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6576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371600" y="35935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C27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不确定性标注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371600" y="3867912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5A0BB"/>
                </a:solidFill>
              </a:rPr>
              <a:t>标注 [高/中/低，依据:…]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3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8B4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技术栈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658368"/>
            <a:ext cx="822960" cy="27432"/>
          </a:xfrm>
          <a:prstGeom prst="rect">
            <a:avLst/>
          </a:prstGeom>
          <a:solidFill>
            <a:srgbClr val="E8B44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8229600" cy="411480"/>
          </a:xfrm>
          <a:prstGeom prst="rect">
            <a:avLst/>
          </a:prstGeom>
          <a:solidFill>
            <a:srgbClr val="1C254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52144"/>
            <a:ext cx="1371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B4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数据库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103120" y="1152144"/>
            <a:ext cx="6400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D4E0"/>
                </a:solidFill>
              </a:rPr>
              <a:t>PostgreSQL + TimescaleDB, Neo4j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8229600" cy="411480"/>
          </a:xfrm>
          <a:prstGeom prst="rect">
            <a:avLst/>
          </a:prstGeom>
          <a:solidFill>
            <a:srgbClr val="0F131E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609344"/>
            <a:ext cx="1371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B4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编排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103120" y="1609344"/>
            <a:ext cx="6400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D4E0"/>
                </a:solidFill>
              </a:rPr>
              <a:t>n8n (8-node pipeline, Docker)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011680"/>
            <a:ext cx="8229600" cy="411480"/>
          </a:xfrm>
          <a:prstGeom prst="rect">
            <a:avLst/>
          </a:prstGeom>
          <a:solidFill>
            <a:srgbClr val="1C2540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066544"/>
            <a:ext cx="1371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B4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采集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103120" y="2066544"/>
            <a:ext cx="6400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D4E0"/>
                </a:solidFill>
              </a:rPr>
              <a:t>Python (gdelt-py, psycopg2, fredapi)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468880"/>
            <a:ext cx="8229600" cy="411480"/>
          </a:xfrm>
          <a:prstGeom prst="rect">
            <a:avLst/>
          </a:prstGeom>
          <a:solidFill>
            <a:srgbClr val="0F131E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523744"/>
            <a:ext cx="1371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B4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推理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103120" y="2523744"/>
            <a:ext cx="6400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D4E0"/>
                </a:solidFill>
              </a:rPr>
              <a:t>DeepSeek API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926080"/>
            <a:ext cx="8229600" cy="411480"/>
          </a:xfrm>
          <a:prstGeom prst="rect">
            <a:avLst/>
          </a:prstGeom>
          <a:solidFill>
            <a:srgbClr val="1C2540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980944"/>
            <a:ext cx="1371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B4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可视化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103120" y="2980944"/>
            <a:ext cx="6400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D4E0"/>
                </a:solidFill>
              </a:rPr>
              <a:t>Leaflet + OSM + matplotlib + vis.js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383280"/>
            <a:ext cx="8229600" cy="411480"/>
          </a:xfrm>
          <a:prstGeom prst="rect">
            <a:avLst/>
          </a:prstGeom>
          <a:solidFill>
            <a:srgbClr val="0F131E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438144"/>
            <a:ext cx="1371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B4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站点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103120" y="3438144"/>
            <a:ext cx="6400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D4E0"/>
                </a:solidFill>
              </a:rPr>
              <a:t>React + Vite + Firebase Hosting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840480"/>
            <a:ext cx="8229600" cy="411480"/>
          </a:xfrm>
          <a:prstGeom prst="rect">
            <a:avLst/>
          </a:prstGeom>
          <a:solidFill>
            <a:srgbClr val="1C2540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895344"/>
            <a:ext cx="1371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B4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容器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103120" y="3895344"/>
            <a:ext cx="6400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D4E0"/>
                </a:solidFill>
              </a:rPr>
              <a:t>Docker Compose (PG+Neo4j+n8n+runner)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3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8B4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当前状态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658368"/>
            <a:ext cx="822960" cy="27432"/>
          </a:xfrm>
          <a:prstGeom prst="rect">
            <a:avLst/>
          </a:prstGeom>
          <a:solidFill>
            <a:srgbClr val="E8B44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731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5A0BB"/>
                </a:solidFill>
              </a:rPr>
              <a:t>2026-07-28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8595360" cy="384048"/>
          </a:xfrm>
          <a:prstGeom prst="rect">
            <a:avLst/>
          </a:prstGeom>
          <a:solidFill>
            <a:srgbClr val="1C2540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051560"/>
            <a:ext cx="36576" cy="384048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10642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✅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11064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D4E0"/>
                </a:solidFill>
              </a:rPr>
              <a:t>数据采集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834640" y="110642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5A0BB"/>
                </a:solidFill>
              </a:rPr>
              <a:t>日更全量 (GDELT+UCDP+COW+FRED)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315200" y="1179576"/>
            <a:ext cx="1371600" cy="128016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1" name="Shape 9"/>
          <p:cNvSpPr/>
          <p:nvPr/>
        </p:nvSpPr>
        <p:spPr>
          <a:xfrm>
            <a:off x="274320" y="1490472"/>
            <a:ext cx="8595360" cy="384048"/>
          </a:xfrm>
          <a:prstGeom prst="rect">
            <a:avLst/>
          </a:prstGeom>
          <a:solidFill>
            <a:srgbClr val="1C2540"/>
          </a:solidFill>
          <a:ln/>
        </p:spPr>
      </p:sp>
      <p:sp>
        <p:nvSpPr>
          <p:cNvPr id="12" name="Shape 10"/>
          <p:cNvSpPr/>
          <p:nvPr/>
        </p:nvSpPr>
        <p:spPr>
          <a:xfrm>
            <a:off x="274320" y="1490472"/>
            <a:ext cx="36576" cy="384048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154533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✅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154533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D4E0"/>
                </a:solidFill>
              </a:rPr>
              <a:t>验证环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834640" y="154533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5A0BB"/>
                </a:solidFill>
              </a:rPr>
              <a:t>三级分桶自动运行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15200" y="1618488"/>
            <a:ext cx="1371600" cy="128016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7" name="Shape 15"/>
          <p:cNvSpPr/>
          <p:nvPr/>
        </p:nvSpPr>
        <p:spPr>
          <a:xfrm>
            <a:off x="274320" y="1929384"/>
            <a:ext cx="8595360" cy="384048"/>
          </a:xfrm>
          <a:prstGeom prst="rect">
            <a:avLst/>
          </a:prstGeom>
          <a:solidFill>
            <a:srgbClr val="1C2540"/>
          </a:solidFill>
          <a:ln/>
        </p:spPr>
      </p:sp>
      <p:sp>
        <p:nvSpPr>
          <p:cNvPr id="18" name="Shape 16"/>
          <p:cNvSpPr/>
          <p:nvPr/>
        </p:nvSpPr>
        <p:spPr>
          <a:xfrm>
            <a:off x="274320" y="1929384"/>
            <a:ext cx="36576" cy="384048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198424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✅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14400" y="19842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D4E0"/>
                </a:solidFill>
              </a:rPr>
              <a:t>结构反证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834640" y="198424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5A0BB"/>
                </a:solidFill>
              </a:rPr>
              <a:t>53主体×114验证项就位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315200" y="2057400"/>
            <a:ext cx="1371600" cy="128016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23" name="Shape 21"/>
          <p:cNvSpPr/>
          <p:nvPr/>
        </p:nvSpPr>
        <p:spPr>
          <a:xfrm>
            <a:off x="274320" y="2368296"/>
            <a:ext cx="8595360" cy="384048"/>
          </a:xfrm>
          <a:prstGeom prst="rect">
            <a:avLst/>
          </a:prstGeom>
          <a:solidFill>
            <a:srgbClr val="1C2540"/>
          </a:solidFill>
          <a:ln/>
        </p:spPr>
      </p:sp>
      <p:sp>
        <p:nvSpPr>
          <p:cNvPr id="24" name="Shape 22"/>
          <p:cNvSpPr/>
          <p:nvPr/>
        </p:nvSpPr>
        <p:spPr>
          <a:xfrm>
            <a:off x="274320" y="2368296"/>
            <a:ext cx="36576" cy="384048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24231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✅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14400" y="2423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D4E0"/>
                </a:solidFill>
              </a:rPr>
              <a:t>Neo4j图谱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834640" y="24231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5A0BB"/>
                </a:solidFill>
              </a:rPr>
              <a:t>42万 Event + 53 Actor + 8 Domain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315200" y="2496312"/>
            <a:ext cx="1371600" cy="128016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29" name="Shape 27"/>
          <p:cNvSpPr/>
          <p:nvPr/>
        </p:nvSpPr>
        <p:spPr>
          <a:xfrm>
            <a:off x="274320" y="2807208"/>
            <a:ext cx="8595360" cy="384048"/>
          </a:xfrm>
          <a:prstGeom prst="rect">
            <a:avLst/>
          </a:prstGeom>
          <a:solidFill>
            <a:srgbClr val="1C2540"/>
          </a:solidFill>
          <a:ln/>
        </p:spPr>
      </p:sp>
      <p:sp>
        <p:nvSpPr>
          <p:cNvPr id="30" name="Shape 28"/>
          <p:cNvSpPr/>
          <p:nvPr/>
        </p:nvSpPr>
        <p:spPr>
          <a:xfrm>
            <a:off x="274320" y="2807208"/>
            <a:ext cx="36576" cy="384048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28620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✅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14400" y="2862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D4E0"/>
                </a:solidFill>
              </a:rPr>
              <a:t>世界地图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834640" y="28620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5A0BB"/>
                </a:solidFill>
              </a:rPr>
              <a:t>交互式 · construct-lab.site/map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315200" y="2935224"/>
            <a:ext cx="1371600" cy="128016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5" name="Shape 33"/>
          <p:cNvSpPr/>
          <p:nvPr/>
        </p:nvSpPr>
        <p:spPr>
          <a:xfrm>
            <a:off x="274320" y="3246120"/>
            <a:ext cx="8595360" cy="384048"/>
          </a:xfrm>
          <a:prstGeom prst="rect">
            <a:avLst/>
          </a:prstGeom>
          <a:solidFill>
            <a:srgbClr val="1C2540"/>
          </a:solidFill>
          <a:ln/>
        </p:spPr>
      </p:sp>
      <p:sp>
        <p:nvSpPr>
          <p:cNvPr id="36" name="Shape 34"/>
          <p:cNvSpPr/>
          <p:nvPr/>
        </p:nvSpPr>
        <p:spPr>
          <a:xfrm>
            <a:off x="274320" y="3246120"/>
            <a:ext cx="36576" cy="384048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7" name="Text 35"/>
          <p:cNvSpPr/>
          <p:nvPr/>
        </p:nvSpPr>
        <p:spPr>
          <a:xfrm>
            <a:off x="457200" y="330098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✅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914400" y="330098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D4E0"/>
                </a:solidFill>
              </a:rPr>
              <a:t>国别诊断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2834640" y="330098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5A0BB"/>
                </a:solidFill>
              </a:rPr>
              <a:t>Tier1 8国已生成 · 事件快评跑通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315200" y="3374136"/>
            <a:ext cx="1371600" cy="128016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41" name="Shape 39"/>
          <p:cNvSpPr/>
          <p:nvPr/>
        </p:nvSpPr>
        <p:spPr>
          <a:xfrm>
            <a:off x="274320" y="3685032"/>
            <a:ext cx="8595360" cy="384048"/>
          </a:xfrm>
          <a:prstGeom prst="rect">
            <a:avLst/>
          </a:prstGeom>
          <a:solidFill>
            <a:srgbClr val="0F131E"/>
          </a:solidFill>
          <a:ln/>
        </p:spPr>
      </p:sp>
      <p:sp>
        <p:nvSpPr>
          <p:cNvPr id="42" name="Shape 40"/>
          <p:cNvSpPr/>
          <p:nvPr/>
        </p:nvSpPr>
        <p:spPr>
          <a:xfrm>
            <a:off x="274320" y="3685032"/>
            <a:ext cx="36576" cy="384048"/>
          </a:xfrm>
          <a:prstGeom prst="rect">
            <a:avLst/>
          </a:prstGeom>
          <a:solidFill>
            <a:srgbClr val="E8B44C"/>
          </a:solidFill>
          <a:ln/>
        </p:spPr>
      </p:sp>
      <p:sp>
        <p:nvSpPr>
          <p:cNvPr id="43" name="Text 41"/>
          <p:cNvSpPr/>
          <p:nvPr/>
        </p:nvSpPr>
        <p:spPr>
          <a:xfrm>
            <a:off x="457200" y="373989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⏳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914400" y="373989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D4E0"/>
                </a:solidFill>
              </a:rPr>
              <a:t>内容形态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2834640" y="373989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5A0BB"/>
                </a:solidFill>
              </a:rPr>
              <a:t>数据卡片/时序报告/情景推演待开发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7315200" y="3813048"/>
            <a:ext cx="411480" cy="128016"/>
          </a:xfrm>
          <a:prstGeom prst="rect">
            <a:avLst/>
          </a:prstGeom>
          <a:solidFill>
            <a:srgbClr val="E8B44C"/>
          </a:solidFill>
          <a:ln/>
        </p:spPr>
      </p:sp>
      <p:sp>
        <p:nvSpPr>
          <p:cNvPr id="47" name="Shape 45"/>
          <p:cNvSpPr/>
          <p:nvPr/>
        </p:nvSpPr>
        <p:spPr>
          <a:xfrm>
            <a:off x="274320" y="4123944"/>
            <a:ext cx="8595360" cy="384048"/>
          </a:xfrm>
          <a:prstGeom prst="rect">
            <a:avLst/>
          </a:prstGeom>
          <a:solidFill>
            <a:srgbClr val="0F131E"/>
          </a:solidFill>
          <a:ln/>
        </p:spPr>
      </p:sp>
      <p:sp>
        <p:nvSpPr>
          <p:cNvPr id="48" name="Shape 46"/>
          <p:cNvSpPr/>
          <p:nvPr/>
        </p:nvSpPr>
        <p:spPr>
          <a:xfrm>
            <a:off x="274320" y="4123944"/>
            <a:ext cx="36576" cy="384048"/>
          </a:xfrm>
          <a:prstGeom prst="rect">
            <a:avLst/>
          </a:prstGeom>
          <a:solidFill>
            <a:srgbClr val="E8B44C"/>
          </a:solidFill>
          <a:ln/>
        </p:spPr>
      </p:sp>
      <p:sp>
        <p:nvSpPr>
          <p:cNvPr id="49" name="Text 47"/>
          <p:cNvSpPr/>
          <p:nvPr/>
        </p:nvSpPr>
        <p:spPr>
          <a:xfrm>
            <a:off x="457200" y="417880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⏳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914400" y="41788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D4E0"/>
                </a:solidFill>
              </a:rPr>
              <a:t>结构词典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2834640" y="417880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5A0BB"/>
                </a:solidFill>
              </a:rPr>
              <a:t>首批10条目待写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7315200" y="4251960"/>
            <a:ext cx="411480" cy="128016"/>
          </a:xfrm>
          <a:prstGeom prst="rect">
            <a:avLst/>
          </a:prstGeom>
          <a:solidFill>
            <a:srgbClr val="E8B44C"/>
          </a:solidFill>
          <a:ln/>
        </p:spPr>
      </p:sp>
      <p:sp>
        <p:nvSpPr>
          <p:cNvPr id="53" name="Shape 51"/>
          <p:cNvSpPr/>
          <p:nvPr/>
        </p:nvSpPr>
        <p:spPr>
          <a:xfrm>
            <a:off x="274320" y="4562856"/>
            <a:ext cx="8595360" cy="384048"/>
          </a:xfrm>
          <a:prstGeom prst="rect">
            <a:avLst/>
          </a:prstGeom>
          <a:solidFill>
            <a:srgbClr val="0F131E"/>
          </a:solidFill>
          <a:ln/>
        </p:spPr>
      </p:sp>
      <p:sp>
        <p:nvSpPr>
          <p:cNvPr id="54" name="Shape 52"/>
          <p:cNvSpPr/>
          <p:nvPr/>
        </p:nvSpPr>
        <p:spPr>
          <a:xfrm>
            <a:off x="274320" y="4562856"/>
            <a:ext cx="36576" cy="384048"/>
          </a:xfrm>
          <a:prstGeom prst="rect">
            <a:avLst/>
          </a:prstGeom>
          <a:solidFill>
            <a:srgbClr val="E8B44C"/>
          </a:solidFill>
          <a:ln/>
        </p:spPr>
      </p:sp>
      <p:sp>
        <p:nvSpPr>
          <p:cNvPr id="55" name="Text 53"/>
          <p:cNvSpPr/>
          <p:nvPr/>
        </p:nvSpPr>
        <p:spPr>
          <a:xfrm>
            <a:off x="457200" y="46177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⏳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914400" y="4617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D4E0"/>
                </a:solidFill>
              </a:rPr>
              <a:t>推演引擎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2834640" y="46177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5A0BB"/>
                </a:solidFill>
              </a:rPr>
              <a:t>逻辑已通 · 待落 project_paths.py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7315200" y="4690872"/>
            <a:ext cx="411480" cy="128016"/>
          </a:xfrm>
          <a:prstGeom prst="rect">
            <a:avLst/>
          </a:prstGeom>
          <a:solidFill>
            <a:srgbClr val="E8B44C"/>
          </a:solidFill>
          <a:ln/>
        </p:spPr>
      </p:sp>
      <p:sp>
        <p:nvSpPr>
          <p:cNvPr id="59" name="Shape 57"/>
          <p:cNvSpPr/>
          <p:nvPr/>
        </p:nvSpPr>
        <p:spPr>
          <a:xfrm>
            <a:off x="274320" y="5001768"/>
            <a:ext cx="8595360" cy="384048"/>
          </a:xfrm>
          <a:prstGeom prst="rect">
            <a:avLst/>
          </a:prstGeom>
          <a:solidFill>
            <a:srgbClr val="0F131E"/>
          </a:solidFill>
          <a:ln/>
        </p:spPr>
      </p:sp>
      <p:sp>
        <p:nvSpPr>
          <p:cNvPr id="60" name="Shape 58"/>
          <p:cNvSpPr/>
          <p:nvPr/>
        </p:nvSpPr>
        <p:spPr>
          <a:xfrm>
            <a:off x="274320" y="5001768"/>
            <a:ext cx="36576" cy="384048"/>
          </a:xfrm>
          <a:prstGeom prst="rect">
            <a:avLst/>
          </a:prstGeom>
          <a:solidFill>
            <a:srgbClr val="E8B44C"/>
          </a:solidFill>
          <a:ln/>
        </p:spPr>
      </p:sp>
      <p:sp>
        <p:nvSpPr>
          <p:cNvPr id="61" name="Text 59"/>
          <p:cNvSpPr/>
          <p:nvPr/>
        </p:nvSpPr>
        <p:spPr>
          <a:xfrm>
            <a:off x="457200" y="50566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⏳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914400" y="50566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D4E0"/>
                </a:solidFill>
              </a:rPr>
              <a:t>部署上线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2834640" y="505663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5A0BB"/>
                </a:solidFill>
              </a:rPr>
              <a:t>地图文件就位 · 待推 Firebase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7315200" y="5129784"/>
            <a:ext cx="411480" cy="128016"/>
          </a:xfrm>
          <a:prstGeom prst="rect">
            <a:avLst/>
          </a:prstGeom>
          <a:solidFill>
            <a:srgbClr val="E8B44C"/>
          </a:solidFill>
          <a:ln/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3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554480"/>
          </a:xfrm>
          <a:prstGeom prst="rect">
            <a:avLst/>
          </a:prstGeom>
          <a:solidFill>
            <a:srgbClr val="1C254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828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dirty="0">
                <a:solidFill>
                  <a:srgbClr val="E8B4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ConStruct Lab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0D4E0"/>
                </a:solidFill>
              </a:rPr>
              <a:t>Structural diagnosis. Not structural talk.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5A0BB"/>
                </a:solidFill>
              </a:rPr>
              <a:t>"Diagnose structures, not predict futures."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B4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它不是分析工具。它是你对抗叙事洗脑的认知免疫系统。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468880"/>
            <a:ext cx="2560320" cy="2011680"/>
          </a:xfrm>
          <a:prstGeom prst="rect">
            <a:avLst/>
          </a:prstGeom>
          <a:solidFill>
            <a:srgbClr val="1C2540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2468880"/>
            <a:ext cx="2560320" cy="36576"/>
          </a:xfrm>
          <a:prstGeom prst="rect">
            <a:avLst/>
          </a:prstGeom>
          <a:solidFill>
            <a:srgbClr val="E8B44C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6060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B4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实验室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292608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0D4E0"/>
                </a:solidFill>
              </a:rPr>
              <a:t>刃研社 / SCALPEL LAB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0D4E0"/>
                </a:solidFill>
              </a:rPr>
              <a:t>Cutting Systems,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0D4E0"/>
                </a:solidFill>
              </a:rPr>
              <a:t>Rebuilding Meaning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0" y="2468880"/>
            <a:ext cx="2560320" cy="2011680"/>
          </a:xfrm>
          <a:prstGeom prst="rect">
            <a:avLst/>
          </a:prstGeom>
          <a:solidFill>
            <a:srgbClr val="1C2540"/>
          </a:solidFill>
          <a:ln/>
        </p:spPr>
      </p:sp>
      <p:sp>
        <p:nvSpPr>
          <p:cNvPr id="12" name="Shape 10"/>
          <p:cNvSpPr/>
          <p:nvPr/>
        </p:nvSpPr>
        <p:spPr>
          <a:xfrm>
            <a:off x="3657600" y="2468880"/>
            <a:ext cx="2560320" cy="36576"/>
          </a:xfrm>
          <a:prstGeom prst="rect">
            <a:avLst/>
          </a:prstGeom>
          <a:solidFill>
            <a:srgbClr val="42A5F5"/>
          </a:solidFill>
          <a:ln/>
        </p:spPr>
      </p:sp>
      <p:sp>
        <p:nvSpPr>
          <p:cNvPr id="13" name="Text 11"/>
          <p:cNvSpPr/>
          <p:nvPr/>
        </p:nvSpPr>
        <p:spPr>
          <a:xfrm>
            <a:off x="3794760" y="26060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2A5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内容矩阵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794760" y="292608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0D4E0"/>
                </a:solidFill>
              </a:rPr>
              <a:t>公众号：地缘推演台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0D4E0"/>
                </a:solidFill>
              </a:rPr>
              <a:t>Substack: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0D4E0"/>
                </a:solidFill>
              </a:rPr>
              <a:t>constructlab.substack.com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675120" y="2468880"/>
            <a:ext cx="2560320" cy="2011680"/>
          </a:xfrm>
          <a:prstGeom prst="rect">
            <a:avLst/>
          </a:prstGeom>
          <a:solidFill>
            <a:srgbClr val="1C2540"/>
          </a:solidFill>
          <a:ln/>
        </p:spPr>
      </p:sp>
      <p:sp>
        <p:nvSpPr>
          <p:cNvPr id="16" name="Shape 14"/>
          <p:cNvSpPr/>
          <p:nvPr/>
        </p:nvSpPr>
        <p:spPr>
          <a:xfrm>
            <a:off x="6675120" y="2468880"/>
            <a:ext cx="2560320" cy="36576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7" name="Text 15"/>
          <p:cNvSpPr/>
          <p:nvPr/>
        </p:nvSpPr>
        <p:spPr>
          <a:xfrm>
            <a:off x="6812280" y="26060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CAF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站点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812280" y="292608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0D4E0"/>
                </a:solidFill>
              </a:rPr>
              <a:t>construct-lab.site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0D4E0"/>
                </a:solidFill>
              </a:rPr>
              <a:t>/tool · /map · /content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0D4E0"/>
                </a:solidFill>
              </a:rPr>
              <a:t>全球免费开放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0080" y="475488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5A0BB"/>
                </a:solidFill>
              </a:rPr>
              <a:t>ConStruct Lab v1.0 — July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ConStruct Lab — 项目全貌</dc:title>
  <dc:subject>PptxGenJS Presentation</dc:subject>
  <dc:creator>ConStruct Lab</dc:creator>
  <cp:lastModifiedBy>ConStruct Lab</cp:lastModifiedBy>
  <cp:revision>1</cp:revision>
  <dcterms:created xsi:type="dcterms:W3CDTF">2026-07-28T08:47:10Z</dcterms:created>
  <dcterms:modified xsi:type="dcterms:W3CDTF">2026-07-28T08:47:10Z</dcterms:modified>
</cp:coreProperties>
</file>